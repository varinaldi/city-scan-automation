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096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096" eaLnBrk="1" hangingPunct="1" latinLnBrk="0" marL="457096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096" eaLnBrk="1" hangingPunct="1" latinLnBrk="0" marL="914192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096" eaLnBrk="1" hangingPunct="1" latinLnBrk="0" marL="1371288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096" eaLnBrk="1" hangingPunct="1" latinLnBrk="0" marL="1828384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096" eaLnBrk="1" hangingPunct="1" latinLnBrk="0" marL="228548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096" eaLnBrk="1" hangingPunct="1" latinLnBrk="0" marL="2742576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096" eaLnBrk="1" hangingPunct="1" latinLnBrk="0" marL="3199672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096" eaLnBrk="1" hangingPunct="1" latinLnBrk="0" marL="3656768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30966"/>
    <p:restoredTop autoAdjust="0" sz="91434"/>
  </p:normalViewPr>
  <p:slideViewPr>
    <p:cSldViewPr snapToGrid="0" snapToObjects="1">
      <p:cViewPr varScale="1">
        <p:scale>
          <a:sx d="100" n="148"/>
          <a:sy d="100" n="148"/>
        </p:scale>
        <p:origin x="192" y="928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345" y="956549"/>
            <a:ext cx="1838257" cy="104060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6" name="object 6">
            <a:extLst>
              <a:ext uri="{FF2B5EF4-FFF2-40B4-BE49-F238E27FC236}">
                <a16:creationId xmlns:a16="http://schemas.microsoft.com/office/drawing/2014/main" id="{38894BD6-BC49-54C5-DE79-6668402F91E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57755" y="3066812"/>
            <a:ext cx="1229769" cy="335391"/>
          </a:xfrm>
          <a:prstGeom prst="rect">
            <a:avLst/>
          </a:prstGeom>
        </p:spPr>
      </p:pic>
      <p:pic>
        <p:nvPicPr>
          <p:cNvPr id="17" name="object 7">
            <a:extLst>
              <a:ext uri="{FF2B5EF4-FFF2-40B4-BE49-F238E27FC236}">
                <a16:creationId xmlns:a16="http://schemas.microsoft.com/office/drawing/2014/main" id="{DD9BF7BD-79DC-D7E1-8665-AB563D82619E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57755" y="3678723"/>
            <a:ext cx="1112189" cy="508228"/>
          </a:xfrm>
          <a:prstGeom prst="rect">
            <a:avLst/>
          </a:prstGeom>
        </p:spPr>
      </p:pic>
      <p:pic>
        <p:nvPicPr>
          <p:cNvPr id="18" name="object 9">
            <a:extLst>
              <a:ext uri="{FF2B5EF4-FFF2-40B4-BE49-F238E27FC236}">
                <a16:creationId xmlns:a16="http://schemas.microsoft.com/office/drawing/2014/main" id="{F295B09F-059C-70CD-21B9-A57FCCA39F23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2427925" y="3811643"/>
            <a:ext cx="1082744" cy="315295"/>
          </a:xfrm>
          <a:prstGeom prst="rect">
            <a:avLst/>
          </a:prstGeom>
        </p:spPr>
      </p:pic>
      <p:pic>
        <p:nvPicPr>
          <p:cNvPr id="19" name="object 10">
            <a:extLst>
              <a:ext uri="{FF2B5EF4-FFF2-40B4-BE49-F238E27FC236}">
                <a16:creationId xmlns:a16="http://schemas.microsoft.com/office/drawing/2014/main" id="{16DF2EA7-5509-40BC-18ED-45F816ED765E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2424602" y="3079501"/>
            <a:ext cx="1165234" cy="508241"/>
          </a:xfrm>
          <a:prstGeom prst="rect">
            <a:avLst/>
          </a:prstGeom>
        </p:spPr>
      </p:pic>
      <p:sp>
        <p:nvSpPr>
          <p:cNvPr id="20" name="object 12">
            <a:extLst>
              <a:ext uri="{FF2B5EF4-FFF2-40B4-BE49-F238E27FC236}">
                <a16:creationId xmlns:a16="http://schemas.microsoft.com/office/drawing/2014/main" id="{CC625D44-8161-0F38-700E-D7BAB08647A7}"/>
              </a:ext>
            </a:extLst>
          </p:cNvPr>
          <p:cNvSpPr txBox="1"/>
          <p:nvPr userDrawn="1"/>
        </p:nvSpPr>
        <p:spPr>
          <a:xfrm>
            <a:off x="545053" y="4385581"/>
            <a:ext cx="303022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findings,</a:t>
            </a:r>
            <a:r>
              <a:rPr sz="700" spc="-1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interpretations,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and</a:t>
            </a:r>
            <a:r>
              <a:rPr sz="700" spc="-1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conclusions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expressed</a:t>
            </a:r>
            <a:r>
              <a:rPr sz="700" spc="-1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in</a:t>
            </a:r>
            <a:r>
              <a:rPr sz="700" spc="-1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this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City</a:t>
            </a:r>
            <a:r>
              <a:rPr sz="700" spc="-1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Scan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58595B"/>
                </a:solidFill>
                <a:latin typeface="Arial"/>
                <a:cs typeface="Arial"/>
              </a:rPr>
              <a:t>do</a:t>
            </a:r>
            <a:r>
              <a:rPr sz="700" spc="50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not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necessarily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reflect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views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of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World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Bank,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Executive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8595B"/>
                </a:solidFill>
                <a:latin typeface="Arial"/>
                <a:cs typeface="Arial"/>
              </a:rPr>
              <a:t>Directors</a:t>
            </a:r>
            <a:r>
              <a:rPr sz="700" spc="50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of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World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Bank,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or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governments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they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represent.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Given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that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data</a:t>
            </a:r>
            <a:r>
              <a:rPr sz="700" spc="50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included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in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this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work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are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derived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from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global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sources,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World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Bank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does</a:t>
            </a:r>
            <a:r>
              <a:rPr sz="700" spc="50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not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guarantee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its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8595B"/>
                </a:solidFill>
                <a:latin typeface="Arial"/>
                <a:cs typeface="Arial"/>
              </a:rPr>
              <a:t>accuracy.</a:t>
            </a:r>
            <a:endParaRPr sz="700" dirty="0">
              <a:latin typeface="Arial"/>
              <a:cs typeface="Arial"/>
            </a:endParaRPr>
          </a:p>
        </p:txBody>
      </p:sp>
      <p:pic>
        <p:nvPicPr>
          <p:cNvPr id="22" name="object 8">
            <a:extLst>
              <a:ext uri="{FF2B5EF4-FFF2-40B4-BE49-F238E27FC236}">
                <a16:creationId xmlns:a16="http://schemas.microsoft.com/office/drawing/2014/main" id="{DD092C67-81EE-94A6-CEA6-1B42C3301433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>
          <a:xfrm>
            <a:off x="586343" y="276012"/>
            <a:ext cx="1055008" cy="508234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90D2094-F77E-90AE-2EA1-77A4CD6A83E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742660" y="276011"/>
            <a:ext cx="4944140" cy="466836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A936FB1-45A6-5B92-8A5C-022B1F38E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273844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0FD4D44-44E2-0579-3E4A-10392499C3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652463"/>
            <a:ext cx="8229600" cy="4000560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7313" y="1838733"/>
            <a:ext cx="3962400" cy="27384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18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7313" y="2116185"/>
            <a:ext cx="3962400" cy="118899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9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8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8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273844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652463"/>
            <a:ext cx="4038600" cy="4000560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g object 16">
            <a:extLst>
              <a:ext uri="{FF2B5EF4-FFF2-40B4-BE49-F238E27FC236}">
                <a16:creationId xmlns:a16="http://schemas.microsoft.com/office/drawing/2014/main" id="{D3BAD162-DA5A-D75A-E74C-A97A2E3A08EF}"/>
              </a:ext>
            </a:extLst>
          </p:cNvPr>
          <p:cNvSpPr/>
          <p:nvPr userDrawn="1"/>
        </p:nvSpPr>
        <p:spPr>
          <a:xfrm>
            <a:off x="0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E8E7EB"/>
          </a:solidFill>
        </p:spPr>
        <p:txBody>
          <a:bodyPr wrap="square" lIns="0" tIns="0" rIns="0" bIns="0" rtlCol="0"/>
          <a:lstStyle/>
          <a:p>
            <a:endParaRPr sz="2112"/>
          </a:p>
        </p:txBody>
      </p:sp>
      <p:sp>
        <p:nvSpPr>
          <p:cNvPr id="9" name="bg object 16">
            <a:extLst>
              <a:ext uri="{FF2B5EF4-FFF2-40B4-BE49-F238E27FC236}">
                <a16:creationId xmlns:a16="http://schemas.microsoft.com/office/drawing/2014/main" id="{D24C6CA8-6647-240A-CE5E-6DF8BD9BD3FC}"/>
              </a:ext>
            </a:extLst>
          </p:cNvPr>
          <p:cNvSpPr/>
          <p:nvPr userDrawn="1"/>
        </p:nvSpPr>
        <p:spPr>
          <a:xfrm>
            <a:off x="8763000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E8E7EB"/>
          </a:solidFill>
        </p:spPr>
        <p:txBody>
          <a:bodyPr wrap="square" lIns="0" tIns="0" rIns="0" bIns="0" rtlCol="0"/>
          <a:lstStyle/>
          <a:p>
            <a:endParaRPr sz="2112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1C4DAA-D0A4-437D-80BA-3ACC4217F71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8200" y="652463"/>
            <a:ext cx="4038600" cy="4000560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bg object 16">
            <a:extLst>
              <a:ext uri="{FF2B5EF4-FFF2-40B4-BE49-F238E27FC236}">
                <a16:creationId xmlns:a16="http://schemas.microsoft.com/office/drawing/2014/main" id="{3EE778A2-8163-3A5F-8BF3-6EC9A136A4C4}"/>
              </a:ext>
            </a:extLst>
          </p:cNvPr>
          <p:cNvSpPr/>
          <p:nvPr userDrawn="1"/>
        </p:nvSpPr>
        <p:spPr>
          <a:xfrm>
            <a:off x="0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E8E7EB"/>
          </a:solidFill>
        </p:spPr>
        <p:txBody>
          <a:bodyPr wrap="square" lIns="0" tIns="0" rIns="0" bIns="0" rtlCol="0"/>
          <a:lstStyle/>
          <a:p>
            <a:endParaRPr sz="2112"/>
          </a:p>
        </p:txBody>
      </p:sp>
      <p:sp>
        <p:nvSpPr>
          <p:cNvPr id="6" name="bg object 16">
            <a:extLst>
              <a:ext uri="{FF2B5EF4-FFF2-40B4-BE49-F238E27FC236}">
                <a16:creationId xmlns:a16="http://schemas.microsoft.com/office/drawing/2014/main" id="{DE2D783F-4F2F-A28E-58DE-95310EA615F8}"/>
              </a:ext>
            </a:extLst>
          </p:cNvPr>
          <p:cNvSpPr/>
          <p:nvPr userDrawn="1"/>
        </p:nvSpPr>
        <p:spPr>
          <a:xfrm>
            <a:off x="8763000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E8E7EB"/>
          </a:solidFill>
        </p:spPr>
        <p:txBody>
          <a:bodyPr wrap="square" lIns="0" tIns="0" rIns="0" bIns="0" rtlCol="0"/>
          <a:lstStyle/>
          <a:p>
            <a:endParaRPr sz="2112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arget="../slideLayouts/slideLayout3.xml" Type="http://schemas.openxmlformats.org/officeDocument/2006/relationships/slideLayout" /><Relationship Id="rId7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bg object 16">
            <a:extLst>
              <a:ext uri="{FF2B5EF4-FFF2-40B4-BE49-F238E27FC236}">
                <a16:creationId xmlns:a16="http://schemas.microsoft.com/office/drawing/2014/main" id="{BBC5E832-5CFA-C8DA-5442-261EB5AFB2D8}"/>
              </a:ext>
            </a:extLst>
          </p:cNvPr>
          <p:cNvSpPr/>
          <p:nvPr userDrawn="1"/>
        </p:nvSpPr>
        <p:spPr>
          <a:xfrm>
            <a:off x="0" y="0"/>
            <a:ext cx="381000" cy="5143500"/>
          </a:xfrm>
          <a:custGeom>
            <a:avLst/>
            <a:gdLst/>
            <a:ahLst/>
            <a:cxnLst/>
            <a:rect b="b" l="l" r="r" t="t"/>
            <a:pathLst>
              <a:path h="6858000" w="381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E8E7EB"/>
          </a:solidFill>
        </p:spPr>
        <p:txBody>
          <a:bodyPr bIns="0" lIns="0" rIns="0" rtlCol="0" tIns="0" wrap="square"/>
          <a:lstStyle/>
          <a:p>
            <a:endParaRPr sz="2112"/>
          </a:p>
        </p:txBody>
      </p:sp>
      <p:sp>
        <p:nvSpPr>
          <p:cNvPr id="8" name="bg object 16">
            <a:extLst>
              <a:ext uri="{FF2B5EF4-FFF2-40B4-BE49-F238E27FC236}">
                <a16:creationId xmlns:a16="http://schemas.microsoft.com/office/drawing/2014/main" id="{8DF22B86-3656-1494-7130-72DCCE247AF2}"/>
              </a:ext>
            </a:extLst>
          </p:cNvPr>
          <p:cNvSpPr/>
          <p:nvPr userDrawn="1"/>
        </p:nvSpPr>
        <p:spPr>
          <a:xfrm>
            <a:off x="8763000" y="0"/>
            <a:ext cx="381000" cy="5143500"/>
          </a:xfrm>
          <a:custGeom>
            <a:avLst/>
            <a:gdLst/>
            <a:ahLst/>
            <a:cxnLst/>
            <a:rect b="b" l="l" r="r" t="t"/>
            <a:pathLst>
              <a:path h="6858000" w="381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E8E7EB"/>
          </a:solidFill>
        </p:spPr>
        <p:txBody>
          <a:bodyPr bIns="0" lIns="0" rIns="0" rtlCol="0" tIns="0" wrap="square"/>
          <a:lstStyle/>
          <a:p>
            <a:endParaRPr sz="2112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6" r:id="rId5"/>
    <p:sldLayoutId id="2147483655" r:id="rId6"/>
  </p:sldLayoutIdLst>
  <p:txStyles>
    <p:titleStyle>
      <a:lvl1pPr algn="ctr" defTabSz="342898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898" eaLnBrk="1" hangingPunct="1" indent="-342898" latinLnBrk="0" marL="342898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898" eaLnBrk="1" hangingPunct="1" indent="-342898" latinLnBrk="0" marL="685796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898" eaLnBrk="1" hangingPunct="1" indent="-342898" latinLnBrk="0" marL="1028694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898" eaLnBrk="1" hangingPunct="1" indent="-342898" latinLnBrk="0" marL="1371592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898" eaLnBrk="1" hangingPunct="1" indent="-342898" latinLnBrk="0" marL="171449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898" eaLnBrk="1" hangingPunct="1" indent="-342898" latinLnBrk="0" marL="2057388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898" eaLnBrk="1" hangingPunct="1" indent="-342898" latinLnBrk="0" marL="2400286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898" eaLnBrk="1" hangingPunct="1" indent="-342898" latinLnBrk="0" marL="2743185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898" eaLnBrk="1" hangingPunct="1" indent="-342898" latinLnBrk="0" marL="3086082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898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898" eaLnBrk="1" hangingPunct="1" latinLnBrk="0" marL="342898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898" eaLnBrk="1" hangingPunct="1" latinLnBrk="0" marL="685796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898" eaLnBrk="1" hangingPunct="1" latinLnBrk="0" marL="1028694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898" eaLnBrk="1" hangingPunct="1" latinLnBrk="0" marL="1371592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898" eaLnBrk="1" hangingPunct="1" latinLnBrk="0" marL="171449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898" eaLnBrk="1" hangingPunct="1" latinLnBrk="0" marL="2057388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898" eaLnBrk="1" hangingPunct="1" latinLnBrk="0" marL="2400286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898" eaLnBrk="1" hangingPunct="1" latinLnBrk="0" marL="2743185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345" y="956549"/>
            <a:ext cx="1838257" cy="1040606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CITY SCAN TUNIS, TUNISIA OCTOBER, 2025</a:t>
            </a:r>
          </a:p>
        </p:txBody>
      </p:sp>
      <p:sp/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0FD4D44-44E2-0579-3E4A-10392499C370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// | label: Read plots from config
// | echo: false
yaml = import("https://esm.sh/js-yaml@4")
import {addPlot} from "./JS/plotManager.js"
plotConfig = FileAttachment("source/plots.yml").text()
plots = yaml.load(await plotConfig)
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Executive Summary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Setting The Context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Population and Demographic Trends</a:t>
            </a:r>
          </a:p>
        </p:txBody>
      </p:sp>
      <p:pic>
        <p:nvPicPr>
          <p:cNvPr descr="slides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303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1656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 scatter plot of random data.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 Slide</a:t>
            </a:r>
          </a:p>
          <a:p>
            <a:pPr lvl="0" indent="0">
              <a:buNone/>
            </a:pPr>
            <a:r>
              <a:rPr>
                <a:latin typeface="Courier"/>
              </a:rPr>
              <a:t>//| output: asis
fillSlide("population")
// import {chart_pga}
// with {columnWidth as plotWidth}
// from "@carolinecullinan/tunis-tunisia"
chart_pga = addPlot(plots.population_growth)
// fillSlide("population_growth", chart_pas)
html`&lt;section class="level4"&gt;
    ${md`#### Population Growth`}
    ${chart_pga ?? ""}
    ${addSlideText(slide_texts.population_growth)}
    &lt;/section&gt;`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SCAN TUNIS, TUNISIA OCTOBER, 2025</dc:title>
  <dc:creator/>
  <cp:keywords/>
  <dcterms:created xsi:type="dcterms:W3CDTF">2025-10-10T20:23:02Z</dcterms:created>
  <dcterms:modified xsi:type="dcterms:W3CDTF">2025-10-10T20:23:02Z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