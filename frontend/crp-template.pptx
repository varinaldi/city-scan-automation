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730" autoAdjust="0"/>
    <p:restoredTop sz="94714" autoAdjust="0"/>
  </p:normalViewPr>
  <p:slideViewPr>
    <p:cSldViewPr snapToGrid="0" snapToObjects="1">
      <p:cViewPr varScale="1">
        <p:scale>
          <a:sx n="163" d="100"/>
          <a:sy n="163" d="100"/>
        </p:scale>
        <p:origin x="184" y="68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 hasCustomPrompt="1"/>
          </p:nvPr>
        </p:nvSpPr>
        <p:spPr>
          <a:xfrm>
            <a:off x="685799" y="1232763"/>
            <a:ext cx="1905001" cy="763695"/>
          </a:xfrm>
        </p:spPr>
        <p:txBody>
          <a:bodyPr>
            <a:noAutofit/>
          </a:bodyPr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subTitle" idx="1" hasCustomPrompt="1"/>
          </p:nvPr>
        </p:nvSpPr>
        <p:spPr>
          <a:xfrm>
            <a:off x="685798" y="1958084"/>
            <a:ext cx="1905001" cy="335391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DATE YEAR</a:t>
            </a:r>
          </a:p>
        </p:txBody>
      </p:sp>
      <p:sp>
        <p:nvSpPr>
          <p:cNvPr id="8" name="Image">
            <a:extLst>
              <a:ext uri="{FF2B5EF4-FFF2-40B4-BE49-F238E27FC236}">
                <a16:creationId xmlns:a16="http://schemas.microsoft.com/office/drawing/2014/main" id="{CAACB220-0D53-644C-3510-7E0A71ED299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67328" y="519035"/>
            <a:ext cx="4919472" cy="3927553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Page Number"/>
          <p:cNvSpPr>
            <a:spLocks noGrp="1"/>
          </p:cNvSpPr>
          <p:nvPr>
            <p:ph type="sldNum" sz="quarter" idx="12"/>
          </p:nvPr>
        </p:nvSpPr>
        <p:spPr>
          <a:xfrm>
            <a:off x="0" y="4797791"/>
            <a:ext cx="381000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object 6">
            <a:extLst>
              <a:ext uri="{FF2B5EF4-FFF2-40B4-BE49-F238E27FC236}">
                <a16:creationId xmlns:a16="http://schemas.microsoft.com/office/drawing/2014/main" id="{816669F8-8F0B-7A87-5A25-041B82214935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642938" y="2790597"/>
            <a:ext cx="1229769" cy="335391"/>
          </a:xfrm>
          <a:prstGeom prst="rect">
            <a:avLst/>
          </a:prstGeom>
        </p:spPr>
      </p:pic>
      <p:pic>
        <p:nvPicPr>
          <p:cNvPr id="11" name="object 7">
            <a:extLst>
              <a:ext uri="{FF2B5EF4-FFF2-40B4-BE49-F238E27FC236}">
                <a16:creationId xmlns:a16="http://schemas.microsoft.com/office/drawing/2014/main" id="{34E50B18-CC17-62EE-9F6F-FF78DACAFE56}"/>
              </a:ext>
            </a:extLst>
          </p:cNvPr>
          <p:cNvPicPr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642938" y="3402509"/>
            <a:ext cx="1112189" cy="508228"/>
          </a:xfrm>
          <a:prstGeom prst="rect">
            <a:avLst/>
          </a:prstGeom>
        </p:spPr>
      </p:pic>
      <p:pic>
        <p:nvPicPr>
          <p:cNvPr id="12" name="object 9">
            <a:extLst>
              <a:ext uri="{FF2B5EF4-FFF2-40B4-BE49-F238E27FC236}">
                <a16:creationId xmlns:a16="http://schemas.microsoft.com/office/drawing/2014/main" id="{31BEF65E-0130-A81E-9413-B54742B6B23F}"/>
              </a:ext>
            </a:extLst>
          </p:cNvPr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2513108" y="3535427"/>
            <a:ext cx="1082744" cy="315295"/>
          </a:xfrm>
          <a:prstGeom prst="rect">
            <a:avLst/>
          </a:prstGeom>
        </p:spPr>
      </p:pic>
      <p:pic>
        <p:nvPicPr>
          <p:cNvPr id="13" name="object 10">
            <a:extLst>
              <a:ext uri="{FF2B5EF4-FFF2-40B4-BE49-F238E27FC236}">
                <a16:creationId xmlns:a16="http://schemas.microsoft.com/office/drawing/2014/main" id="{0B624498-F305-FC91-04A1-5C4B693C0CD9}"/>
              </a:ext>
            </a:extLst>
          </p:cNvPr>
          <p:cNvPicPr/>
          <p:nvPr userDrawn="1"/>
        </p:nvPicPr>
        <p:blipFill>
          <a:blip r:embed="rId5" cstate="print"/>
          <a:stretch>
            <a:fillRect/>
          </a:stretch>
        </p:blipFill>
        <p:spPr>
          <a:xfrm>
            <a:off x="2509787" y="2803285"/>
            <a:ext cx="1165234" cy="508241"/>
          </a:xfrm>
          <a:prstGeom prst="rect">
            <a:avLst/>
          </a:prstGeom>
        </p:spPr>
      </p:pic>
      <p:sp>
        <p:nvSpPr>
          <p:cNvPr id="14" name="object 12">
            <a:extLst>
              <a:ext uri="{FF2B5EF4-FFF2-40B4-BE49-F238E27FC236}">
                <a16:creationId xmlns:a16="http://schemas.microsoft.com/office/drawing/2014/main" id="{FA282E74-23F6-401C-DC86-63BBDC9E5970}"/>
              </a:ext>
            </a:extLst>
          </p:cNvPr>
          <p:cNvSpPr txBox="1"/>
          <p:nvPr userDrawn="1"/>
        </p:nvSpPr>
        <p:spPr>
          <a:xfrm>
            <a:off x="630238" y="4109365"/>
            <a:ext cx="303022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The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findings,</a:t>
            </a:r>
            <a:r>
              <a:rPr sz="700" spc="-1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interpretations,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and</a:t>
            </a:r>
            <a:r>
              <a:rPr sz="700" spc="-1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conclusions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expressed</a:t>
            </a:r>
            <a:r>
              <a:rPr sz="700" spc="-1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in</a:t>
            </a:r>
            <a:r>
              <a:rPr sz="700" spc="-1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this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City</a:t>
            </a:r>
            <a:r>
              <a:rPr sz="700" spc="-1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Scan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spc="-25" dirty="0">
                <a:solidFill>
                  <a:srgbClr val="58595B"/>
                </a:solidFill>
                <a:latin typeface="Arial"/>
                <a:cs typeface="Arial"/>
              </a:rPr>
              <a:t>do</a:t>
            </a:r>
            <a:r>
              <a:rPr sz="700" spc="50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not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necessarily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reflect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the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views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of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the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World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Bank,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the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Executive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spc="-10" dirty="0">
                <a:solidFill>
                  <a:srgbClr val="58595B"/>
                </a:solidFill>
                <a:latin typeface="Arial"/>
                <a:cs typeface="Arial"/>
              </a:rPr>
              <a:t>Directors</a:t>
            </a:r>
            <a:r>
              <a:rPr sz="700" spc="50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of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the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World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Bank,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or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the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governments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they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represent.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Given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that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the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data</a:t>
            </a:r>
            <a:r>
              <a:rPr sz="700" spc="50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included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in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this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work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are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derived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from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global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sources,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the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World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Bank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does</a:t>
            </a:r>
            <a:r>
              <a:rPr sz="700" spc="50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not</a:t>
            </a:r>
            <a:r>
              <a:rPr sz="700" spc="-20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guarantee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58595B"/>
                </a:solidFill>
                <a:latin typeface="Arial"/>
                <a:cs typeface="Arial"/>
              </a:rPr>
              <a:t>its</a:t>
            </a:r>
            <a:r>
              <a:rPr sz="700" spc="-15" dirty="0">
                <a:solidFill>
                  <a:srgbClr val="58595B"/>
                </a:solidFill>
                <a:latin typeface="Arial"/>
                <a:cs typeface="Arial"/>
              </a:rPr>
              <a:t> </a:t>
            </a:r>
            <a:r>
              <a:rPr sz="700" spc="-10" dirty="0">
                <a:solidFill>
                  <a:srgbClr val="58595B"/>
                </a:solidFill>
                <a:latin typeface="Arial"/>
                <a:cs typeface="Arial"/>
              </a:rPr>
              <a:t>accuracy.</a:t>
            </a:r>
            <a:endParaRPr sz="700" dirty="0">
              <a:latin typeface="Arial"/>
              <a:cs typeface="Arial"/>
            </a:endParaRPr>
          </a:p>
        </p:txBody>
      </p:sp>
      <p:pic>
        <p:nvPicPr>
          <p:cNvPr id="15" name="object 8">
            <a:extLst>
              <a:ext uri="{FF2B5EF4-FFF2-40B4-BE49-F238E27FC236}">
                <a16:creationId xmlns:a16="http://schemas.microsoft.com/office/drawing/2014/main" id="{2B4D1106-85A4-E2C8-B516-4EC8F72C06A8}"/>
              </a:ext>
            </a:extLst>
          </p:cNvPr>
          <p:cNvPicPr/>
          <p:nvPr userDrawn="1"/>
        </p:nvPicPr>
        <p:blipFill>
          <a:blip r:embed="rId6" cstate="print"/>
          <a:stretch>
            <a:fillRect/>
          </a:stretch>
        </p:blipFill>
        <p:spPr>
          <a:xfrm>
            <a:off x="609600" y="228600"/>
            <a:ext cx="1055008" cy="5082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BAE3C4-8D35-3D85-4306-6FC9DA0FB4A3}"/>
              </a:ext>
            </a:extLst>
          </p:cNvPr>
          <p:cNvSpPr txBox="1"/>
          <p:nvPr userDrawn="1"/>
        </p:nvSpPr>
        <p:spPr>
          <a:xfrm>
            <a:off x="685798" y="879854"/>
            <a:ext cx="19050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CITY SCAN</a:t>
            </a: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03D4F1F-35D1-9083-9186-82B1B381216F}"/>
              </a:ext>
            </a:extLst>
          </p:cNvPr>
          <p:cNvSpPr/>
          <p:nvPr userDrawn="1"/>
        </p:nvSpPr>
        <p:spPr>
          <a:xfrm>
            <a:off x="2590800" y="1062132"/>
            <a:ext cx="3955550" cy="220894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715768" y="1365106"/>
            <a:ext cx="3712463" cy="604094"/>
          </a:xfrm>
        </p:spPr>
        <p:txBody>
          <a:bodyPr anchor="t">
            <a:noAutofit/>
          </a:bodyPr>
          <a:lstStyle>
            <a:lvl1pPr algn="l">
              <a:defRPr sz="1800" b="0" u="sng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2715769" y="2051261"/>
            <a:ext cx="3712462" cy="1019322"/>
          </a:xfrm>
        </p:spPr>
        <p:txBody>
          <a:bodyPr anchor="t"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Pag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Left"/>
          <p:cNvSpPr>
            <a:spLocks noGrp="1"/>
          </p:cNvSpPr>
          <p:nvPr>
            <p:ph sz="half" idx="1"/>
          </p:nvPr>
        </p:nvSpPr>
        <p:spPr>
          <a:xfrm>
            <a:off x="457200" y="620785"/>
            <a:ext cx="4038600" cy="3973838"/>
          </a:xfrm>
        </p:spPr>
        <p:txBody>
          <a:bodyPr>
            <a:normAutofit/>
          </a:bodyPr>
          <a:lstStyle>
            <a:lvl1pPr>
              <a:defRPr sz="11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RIght"/>
          <p:cNvSpPr>
            <a:spLocks noGrp="1"/>
          </p:cNvSpPr>
          <p:nvPr>
            <p:ph sz="half" idx="2"/>
          </p:nvPr>
        </p:nvSpPr>
        <p:spPr>
          <a:xfrm>
            <a:off x="4648200" y="620785"/>
            <a:ext cx="4038600" cy="3973838"/>
          </a:xfrm>
        </p:spPr>
        <p:txBody>
          <a:bodyPr>
            <a:normAutofit/>
          </a:bodyPr>
          <a:lstStyle>
            <a:lvl1pPr>
              <a:defRPr sz="11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Left Title"/>
          <p:cNvSpPr>
            <a:spLocks noGrp="1"/>
          </p:cNvSpPr>
          <p:nvPr>
            <p:ph type="body" idx="1"/>
          </p:nvPr>
        </p:nvSpPr>
        <p:spPr>
          <a:xfrm>
            <a:off x="457199" y="609873"/>
            <a:ext cx="4040188" cy="307180"/>
          </a:xfrm>
        </p:spPr>
        <p:txBody>
          <a:bodyPr anchor="b">
            <a:normAutofit/>
          </a:bodyPr>
          <a:lstStyle>
            <a:lvl1pPr marL="0" indent="0">
              <a:buNone/>
              <a:defRPr sz="14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Left"/>
          <p:cNvSpPr>
            <a:spLocks noGrp="1"/>
          </p:cNvSpPr>
          <p:nvPr>
            <p:ph sz="half" idx="2"/>
          </p:nvPr>
        </p:nvSpPr>
        <p:spPr>
          <a:xfrm>
            <a:off x="457200" y="978049"/>
            <a:ext cx="4040188" cy="3616573"/>
          </a:xfrm>
        </p:spPr>
        <p:txBody>
          <a:bodyPr>
            <a:normAutofit/>
          </a:bodyPr>
          <a:lstStyle>
            <a:lvl1pPr>
              <a:defRPr sz="105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Right Title"/>
          <p:cNvSpPr>
            <a:spLocks noGrp="1"/>
          </p:cNvSpPr>
          <p:nvPr>
            <p:ph type="body" sz="quarter" idx="3"/>
          </p:nvPr>
        </p:nvSpPr>
        <p:spPr>
          <a:xfrm>
            <a:off x="4645025" y="609873"/>
            <a:ext cx="4041775" cy="307180"/>
          </a:xfrm>
        </p:spPr>
        <p:txBody>
          <a:bodyPr anchor="b">
            <a:normAutofit/>
          </a:bodyPr>
          <a:lstStyle>
            <a:lvl1pPr marL="0" indent="0">
              <a:buNone/>
              <a:defRPr sz="14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Right"/>
          <p:cNvSpPr>
            <a:spLocks noGrp="1"/>
          </p:cNvSpPr>
          <p:nvPr>
            <p:ph sz="quarter" idx="4"/>
          </p:nvPr>
        </p:nvSpPr>
        <p:spPr>
          <a:xfrm>
            <a:off x="4645026" y="978049"/>
            <a:ext cx="4041775" cy="3616573"/>
          </a:xfrm>
        </p:spPr>
        <p:txBody>
          <a:bodyPr>
            <a:normAutofit/>
          </a:bodyPr>
          <a:lstStyle>
            <a:lvl1pPr>
              <a:defRPr sz="105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Pag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ag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ag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1" y="204787"/>
            <a:ext cx="4794307" cy="344090"/>
          </a:xfrm>
        </p:spPr>
        <p:txBody>
          <a:bodyPr anchor="b">
            <a:normAutofit/>
          </a:bodyPr>
          <a:lstStyle>
            <a:lvl1pPr algn="l">
              <a:defRPr sz="1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457200" y="651272"/>
            <a:ext cx="5111750" cy="4029671"/>
          </a:xfrm>
        </p:spPr>
        <p:txBody>
          <a:bodyPr>
            <a:normAutofit/>
          </a:bodyPr>
          <a:lstStyle>
            <a:lvl1pPr>
              <a:defRPr sz="1100"/>
            </a:lvl1pPr>
            <a:lvl2pPr>
              <a:defRPr sz="1050"/>
            </a:lvl2pPr>
            <a:lvl3pPr>
              <a:defRPr sz="1000"/>
            </a:lvl3pPr>
            <a:lvl4pPr>
              <a:defRPr sz="800"/>
            </a:lvl4pPr>
            <a:lvl5pPr>
              <a:defRPr sz="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5678487" y="651272"/>
            <a:ext cx="3008313" cy="4029671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ag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1792288" y="614775"/>
            <a:ext cx="5486400" cy="2904894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Body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>
            <a:normAutofit/>
          </a:bodyPr>
          <a:lstStyle>
            <a:lvl1pPr marL="0" indent="0">
              <a:buNone/>
              <a:defRPr sz="10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11E082D6-B3C0-E2A4-B28E-E9C36325F9E7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1792288" y="3585567"/>
            <a:ext cx="5486400" cy="37403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F4C60D42-BD07-5BCE-C378-B627E447D3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205979"/>
            <a:ext cx="8229600" cy="3428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2">
            <a:extLst>
              <a:ext uri="{FF2B5EF4-FFF2-40B4-BE49-F238E27FC236}">
                <a16:creationId xmlns:a16="http://schemas.microsoft.com/office/drawing/2014/main" id="{D82D83A9-F6EF-8760-7444-B92DFE4DE717}"/>
              </a:ext>
            </a:extLst>
          </p:cNvPr>
          <p:cNvSpPr/>
          <p:nvPr userDrawn="1"/>
        </p:nvSpPr>
        <p:spPr>
          <a:xfrm>
            <a:off x="0" y="7552"/>
            <a:ext cx="381000" cy="5143500"/>
          </a:xfrm>
          <a:custGeom>
            <a:avLst/>
            <a:gdLst/>
            <a:ahLst/>
            <a:cxnLst/>
            <a:rect l="l" t="t" r="r" b="b"/>
            <a:pathLst>
              <a:path w="381000" h="6858000">
                <a:moveTo>
                  <a:pt x="381000" y="0"/>
                </a:moveTo>
                <a:lnTo>
                  <a:pt x="0" y="0"/>
                </a:lnTo>
                <a:lnTo>
                  <a:pt x="0" y="6858000"/>
                </a:lnTo>
                <a:lnTo>
                  <a:pt x="381000" y="6858000"/>
                </a:lnTo>
                <a:lnTo>
                  <a:pt x="381000" y="0"/>
                </a:lnTo>
                <a:close/>
              </a:path>
            </a:pathLst>
          </a:custGeom>
          <a:solidFill>
            <a:srgbClr val="E8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DFB4D89B-64B3-F2B7-79CC-8FA03EB87D6B}"/>
              </a:ext>
            </a:extLst>
          </p:cNvPr>
          <p:cNvSpPr/>
          <p:nvPr userDrawn="1"/>
        </p:nvSpPr>
        <p:spPr>
          <a:xfrm>
            <a:off x="8763000" y="0"/>
            <a:ext cx="381000" cy="5143500"/>
          </a:xfrm>
          <a:custGeom>
            <a:avLst/>
            <a:gdLst/>
            <a:ahLst/>
            <a:cxnLst/>
            <a:rect l="l" t="t" r="r" b="b"/>
            <a:pathLst>
              <a:path w="381000" h="6858000">
                <a:moveTo>
                  <a:pt x="381000" y="0"/>
                </a:moveTo>
                <a:lnTo>
                  <a:pt x="0" y="0"/>
                </a:lnTo>
                <a:lnTo>
                  <a:pt x="0" y="6858000"/>
                </a:lnTo>
                <a:lnTo>
                  <a:pt x="381000" y="6858000"/>
                </a:lnTo>
                <a:lnTo>
                  <a:pt x="381000" y="0"/>
                </a:lnTo>
                <a:close/>
              </a:path>
            </a:pathLst>
          </a:custGeom>
          <a:solidFill>
            <a:srgbClr val="E8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342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457200" y="626724"/>
            <a:ext cx="8229600" cy="39678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"/>
          <p:cNvSpPr>
            <a:spLocks noGrp="1"/>
          </p:cNvSpPr>
          <p:nvPr>
            <p:ph type="ftr" sz="quarter" idx="3"/>
          </p:nvPr>
        </p:nvSpPr>
        <p:spPr>
          <a:xfrm>
            <a:off x="457200" y="4767263"/>
            <a:ext cx="8229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Page Number"/>
          <p:cNvSpPr>
            <a:spLocks noGrp="1"/>
          </p:cNvSpPr>
          <p:nvPr>
            <p:ph type="sldNum" sz="quarter" idx="4"/>
          </p:nvPr>
        </p:nvSpPr>
        <p:spPr>
          <a:xfrm>
            <a:off x="0" y="4767263"/>
            <a:ext cx="3810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342900" rtl="0" eaLnBrk="1" latinLnBrk="0" hangingPunct="1">
        <a:spcBef>
          <a:spcPct val="0"/>
        </a:spcBef>
        <a:buNone/>
        <a:defRPr sz="1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8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0</Words>
  <Application>Microsoft Macintosh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Vivaldi Rinaldi</cp:lastModifiedBy>
  <cp:revision>22</cp:revision>
  <dcterms:created xsi:type="dcterms:W3CDTF">2017-06-05T14:10:58Z</dcterms:created>
  <dcterms:modified xsi:type="dcterms:W3CDTF">2025-10-16T18:03:51Z</dcterms:modified>
</cp:coreProperties>
</file>